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5" d="100"/>
          <a:sy n="85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A1128"/>
                </a:solidFill>
                <a:latin typeface="Cambria"/>
              </a:defRPr>
            </a:pPr>
            <a:r>
              <a:rPr lang="en-US" sz="1400" b="0" i="0" u="none" strike="noStrike">
                <a:solidFill>
                  <a:srgbClr val="0A1128"/>
                </a:solidFill>
                <a:latin typeface="Cambria"/>
              </a:rPr>
              <a:t>Incidents vs. Events by Threat Type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00C2D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A112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404 Enum.</c:v>
                </c:pt>
                <c:pt idx="1">
                  <c:v>SQL Inj.</c:v>
                </c:pt>
                <c:pt idx="2">
                  <c:v>Dir. Traversal</c:v>
                </c:pt>
                <c:pt idx="3">
                  <c:v>Brute Force</c:v>
                </c:pt>
                <c:pt idx="4">
                  <c:v>Port Scan</c:v>
                </c:pt>
                <c:pt idx="5">
                  <c:v>High Req. Rate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48</c:v>
                </c:pt>
                <c:pt idx="1">
                  <c:v>38</c:v>
                </c:pt>
                <c:pt idx="2">
                  <c:v>33</c:v>
                </c:pt>
                <c:pt idx="3">
                  <c:v>29</c:v>
                </c:pt>
                <c:pt idx="4">
                  <c:v>29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19-462E-8DBC-A6861888AFA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Events</c:v>
                </c:pt>
              </c:strCache>
            </c:strRef>
          </c:tx>
          <c:spPr>
            <a:solidFill>
              <a:srgbClr val="13294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A112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404 Enum.</c:v>
                </c:pt>
                <c:pt idx="1">
                  <c:v>SQL Inj.</c:v>
                </c:pt>
                <c:pt idx="2">
                  <c:v>Dir. Traversal</c:v>
                </c:pt>
                <c:pt idx="3">
                  <c:v>Brute Force</c:v>
                </c:pt>
                <c:pt idx="4">
                  <c:v>Port Scan</c:v>
                </c:pt>
                <c:pt idx="5">
                  <c:v>High Req. Rate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931</c:v>
                </c:pt>
                <c:pt idx="1">
                  <c:v>579</c:v>
                </c:pt>
                <c:pt idx="2">
                  <c:v>445</c:v>
                </c:pt>
                <c:pt idx="3">
                  <c:v>480</c:v>
                </c:pt>
                <c:pt idx="4">
                  <c:v>164</c:v>
                </c:pt>
                <c:pt idx="5">
                  <c:v>105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119-462E-8DBC-A6861888AFA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A112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1128"/>
                </a:solidFill>
                <a:latin typeface="Cambria"/>
              </a:defRPr>
            </a:pPr>
            <a:r>
              <a:rPr lang="en-US" sz="1200" b="0" i="0" u="none" strike="noStrike" dirty="0">
                <a:solidFill>
                  <a:srgbClr val="0A1128"/>
                </a:solidFill>
                <a:latin typeface="Cambria"/>
              </a:rPr>
              <a:t>Incidents by Detection Severity (Rule Based)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Detection Severity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89D-45AC-A0E5-29206FB698F5}"/>
              </c:ext>
            </c:extLst>
          </c:dPt>
          <c:dPt>
            <c:idx val="1"/>
            <c:bubble3D val="0"/>
            <c:spPr>
              <a:solidFill>
                <a:srgbClr val="F2A6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89D-45AC-A0E5-29206FB698F5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89D-45AC-A0E5-29206FB698F5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89D-45AC-A0E5-29206FB698F5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58</c:v>
                </c:pt>
                <c:pt idx="1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89D-45AC-A0E5-29206FB698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1128"/>
                </a:solidFill>
                <a:latin typeface="Cambria"/>
              </a:defRPr>
            </a:pPr>
            <a:r>
              <a:rPr lang="en-US" sz="1100" b="0" i="0" u="none" strike="noStrike">
                <a:solidFill>
                  <a:srgbClr val="0A1128"/>
                </a:solidFill>
                <a:latin typeface="Cambria"/>
              </a:rPr>
              <a:t>Threat Distribution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00C2D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404 Enum.</c:v>
                </c:pt>
                <c:pt idx="1">
                  <c:v>SQL Inj.</c:v>
                </c:pt>
                <c:pt idx="2">
                  <c:v>Dir. Traversal</c:v>
                </c:pt>
                <c:pt idx="3">
                  <c:v>Brute Force</c:v>
                </c:pt>
                <c:pt idx="4">
                  <c:v>Port Scan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</c:v>
                </c:pt>
                <c:pt idx="1">
                  <c:v>38</c:v>
                </c:pt>
                <c:pt idx="2">
                  <c:v>33</c:v>
                </c:pt>
                <c:pt idx="3">
                  <c:v>29</c:v>
                </c:pt>
                <c:pt idx="4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F6-46B7-8BB9-693EA24C08A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1128"/>
                </a:solidFill>
                <a:latin typeface="Cambria"/>
              </a:defRPr>
            </a:pPr>
            <a:r>
              <a:rPr lang="en-US" sz="1100" b="0" i="0" u="none" strike="noStrike">
                <a:solidFill>
                  <a:srgbClr val="0A1128"/>
                </a:solidFill>
                <a:latin typeface="Cambria"/>
              </a:rPr>
              <a:t>Risk Level Distribution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 Level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DDC9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4AC-42F0-AB3E-10ADF2257A0D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A1128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4AC-42F0-AB3E-10ADF2257A0D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Sheet1!$A$2:$A$2</c:f>
              <c:strCache>
                <c:ptCount val="1"/>
                <c:pt idx="0">
                  <c:v>Low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4AC-42F0-AB3E-10ADF2257A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3030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777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0" y="8686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13  ·  CYBERSECURITY CONSULTING ENGAGEMENT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 Threat Intelligence System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Threat Intelligence Investigation of Suspicious IP Addresses in Web Server Logs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3931920"/>
            <a:ext cx="2926080" cy="0"/>
          </a:xfrm>
          <a:prstGeom prst="line">
            <a:avLst/>
          </a:prstGeom>
          <a:noFill/>
          <a:ln w="25400">
            <a:solidFill>
              <a:srgbClr val="00C2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160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Group 13</a:t>
            </a:r>
            <a:endParaRPr lang="en-US" sz="2400" b="1" dirty="0"/>
          </a:p>
        </p:txBody>
      </p:sp>
      <p:sp>
        <p:nvSpPr>
          <p:cNvPr id="12" name="Text 10"/>
          <p:cNvSpPr/>
          <p:nvPr/>
        </p:nvSpPr>
        <p:spPr>
          <a:xfrm>
            <a:off x="822960" y="4800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56211" y="5268237"/>
            <a:ext cx="10241280" cy="685800"/>
          </a:xfrm>
          <a:prstGeom prst="roundRect">
            <a:avLst>
              <a:gd name="adj" fmla="val 10667"/>
            </a:avLst>
          </a:prstGeom>
          <a:solidFill>
            <a:srgbClr val="13294B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534924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brief: acting as an external cybersecurity consulting team hired to investigate suspicious IP addresses found in a client's web server logs.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6263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665122" cy="329184"/>
          </a:xfrm>
          <a:prstGeom prst="roundRect">
            <a:avLst>
              <a:gd name="adj" fmla="val 50000"/>
            </a:avLst>
          </a:prstGeom>
          <a:solidFill>
            <a:srgbClr val="00C2D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66512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Summary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Intelligence System  |  Group 13  |  DSA 4030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6537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13 was engaged as an external cybersecurity consulting team to investigate suspicious IP addresses found in a client's web server logs. We built a complete, rule-based Cyber Threat Intelligence System spanning synthetic log generation, SQLite storage, automated attack detection, external reputation enrichment, and risk-prioritized reporting — directly addressing every requirement in the Threat Intelligence Investigation brief (Parts A–E).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6537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00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finding: six attack categories were reliably detected at scale, and every suspicious IP was independently corroborated against two external threat intelligence sources — giving the client both detection coverage and evidence-backed prioritization.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406640" y="1417320"/>
            <a:ext cx="3337560" cy="1051560"/>
          </a:xfrm>
          <a:prstGeom prst="roundRect">
            <a:avLst>
              <a:gd name="adj" fmla="val 7826"/>
            </a:avLst>
          </a:prstGeom>
          <a:solidFill>
            <a:srgbClr val="0A1128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0" y="1490472"/>
            <a:ext cx="1371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135,096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869680" y="1490472"/>
            <a:ext cx="17373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records analyzed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06640" y="2596896"/>
            <a:ext cx="3337560" cy="1051560"/>
          </a:xfrm>
          <a:prstGeom prst="roundRect">
            <a:avLst>
              <a:gd name="adj" fmla="val 7826"/>
            </a:avLst>
          </a:prstGeom>
          <a:solidFill>
            <a:srgbClr val="0A1128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0" y="2670048"/>
            <a:ext cx="1371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178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869680" y="2670048"/>
            <a:ext cx="17373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events detected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06640" y="3776472"/>
            <a:ext cx="3337560" cy="1051560"/>
          </a:xfrm>
          <a:prstGeom prst="roundRect">
            <a:avLst>
              <a:gd name="adj" fmla="val 7826"/>
            </a:avLst>
          </a:prstGeom>
          <a:solidFill>
            <a:srgbClr val="0A1128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0" y="3849624"/>
            <a:ext cx="1371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869680" y="3849624"/>
            <a:ext cx="17373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incidents, all enriched via VirusTotal + AbuseIPDB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406640" y="4956048"/>
            <a:ext cx="3337560" cy="1051560"/>
          </a:xfrm>
          <a:prstGeom prst="roundRect">
            <a:avLst>
              <a:gd name="adj" fmla="val 7826"/>
            </a:avLst>
          </a:prstGeom>
          <a:solidFill>
            <a:srgbClr val="0A1128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0" y="5029200"/>
            <a:ext cx="1371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30.40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869680" y="5029200"/>
            <a:ext cx="17373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composite risk score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899770" cy="329184"/>
          </a:xfrm>
          <a:prstGeom prst="roundRect">
            <a:avLst>
              <a:gd name="adj" fmla="val 50000"/>
            </a:avLst>
          </a:prstGeom>
          <a:solidFill>
            <a:srgbClr val="00C2D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9977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Scenario &amp; Objectives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Intelligence System  |  Group 13  |  DSA 4030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0A112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scenario:  </a:t>
            </a:r>
            <a:r>
              <a:rPr lang="en-US" sz="1250" i="1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team wants to investigate suspicious IP addresses found in server logs. Security teams generate massive log volumes daily — far more than any analyst can review manually, and without external context, IP addresses alone reveal little about actual risk.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11091672" cy="685800"/>
          </a:xfrm>
          <a:prstGeom prst="roundRect">
            <a:avLst>
              <a:gd name="adj" fmla="val 11765"/>
            </a:avLst>
          </a:prstGeom>
          <a:solidFill>
            <a:srgbClr val="E7F8FA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4688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0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Objective:  </a:t>
            </a:r>
            <a:r>
              <a:rPr lang="en-US" sz="125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Cyber Threat Intelligence System that detects suspicious activity from web server logs and enriches detected threats using external threat intelligence.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3630168"/>
            <a:ext cx="512064" cy="512064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3630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42900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sample logs (generate realistic synthetic web traffic)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342900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28232" y="3630168"/>
            <a:ext cx="512064" cy="512064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17" name="Text 15"/>
          <p:cNvSpPr/>
          <p:nvPr/>
        </p:nvSpPr>
        <p:spPr>
          <a:xfrm>
            <a:off x="6428232" y="3630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86600" y="342900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logs reliably in a SQLite database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4727448"/>
            <a:ext cx="512064" cy="512064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4727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452628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suspicious IPs using free threat intelligence sources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452628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28232" y="4727448"/>
            <a:ext cx="512064" cy="512064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25" name="Text 23"/>
          <p:cNvSpPr/>
          <p:nvPr/>
        </p:nvSpPr>
        <p:spPr>
          <a:xfrm>
            <a:off x="6428232" y="4727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86600" y="452628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malicious activity via rule-based detection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6235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" y="5824728"/>
            <a:ext cx="512064" cy="512064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" y="5824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71600" y="562356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an investigation report with prioritized risk scores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63640" y="56235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28232" y="5824728"/>
            <a:ext cx="512064" cy="512064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33" name="Text 31"/>
          <p:cNvSpPr/>
          <p:nvPr/>
        </p:nvSpPr>
        <p:spPr>
          <a:xfrm>
            <a:off x="6428232" y="5824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86600" y="562356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response actions and future improvements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3154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Tasks for Threat Intelligence Investigation: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430475" cy="329184"/>
          </a:xfrm>
          <a:prstGeom prst="roundRect">
            <a:avLst>
              <a:gd name="adj" fmla="val 50000"/>
            </a:avLst>
          </a:prstGeom>
          <a:solidFill>
            <a:srgbClr val="00C2D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243047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· ENVIRONMENT SETUP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Setup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Intelligence System  |  Group 13  |  DSA 4030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0A112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54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19659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web server logs generated in Python (Faker + NumPy/Pandas)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41732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0A1128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554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Platform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520440" y="19659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queried directly via SQL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41732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0A1128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554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Tools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55080" y="19659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VirusTotal API + AbuseIPDB API for external IP reputation enrichment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52560" y="141732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0A1128"/>
          </a:solidFill>
          <a:ln/>
        </p:spPr>
      </p:sp>
      <p:sp>
        <p:nvSpPr>
          <p:cNvPr id="17" name="Text 15"/>
          <p:cNvSpPr/>
          <p:nvPr/>
        </p:nvSpPr>
        <p:spPr>
          <a:xfrm>
            <a:off x="9189720" y="1554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Logging Capability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189720" y="19659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HTTP server logs retained for every request; every detection persisted for audit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063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from raw synthetic logs to actionable, risk-prioritized incidents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1481328" cy="1280160"/>
          </a:xfrm>
          <a:prstGeom prst="roundRect">
            <a:avLst>
              <a:gd name="adj" fmla="val 6429"/>
            </a:avLst>
          </a:prstGeom>
          <a:solidFill>
            <a:srgbClr val="13294B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" y="3611880"/>
            <a:ext cx="133502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Log Generator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1792" y="4343400"/>
            <a:ext cx="13350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Python-generated logs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029968" y="4078224"/>
            <a:ext cx="120396" cy="164592"/>
          </a:xfrm>
          <a:prstGeom prst="rightArrow">
            <a:avLst/>
          </a:prstGeom>
          <a:solidFill>
            <a:srgbClr val="B9C6D2"/>
          </a:solidFill>
          <a:ln/>
        </p:spPr>
      </p:sp>
      <p:sp>
        <p:nvSpPr>
          <p:cNvPr id="24" name="Shape 22"/>
          <p:cNvSpPr/>
          <p:nvPr/>
        </p:nvSpPr>
        <p:spPr>
          <a:xfrm>
            <a:off x="2150364" y="3520440"/>
            <a:ext cx="1481328" cy="1280160"/>
          </a:xfrm>
          <a:prstGeom prst="roundRect">
            <a:avLst>
              <a:gd name="adj" fmla="val 6429"/>
            </a:avLst>
          </a:prstGeom>
          <a:solidFill>
            <a:srgbClr val="13294B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223516" y="3611880"/>
            <a:ext cx="133502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 Database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223516" y="4343400"/>
            <a:ext cx="13350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 storage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31692" y="4078224"/>
            <a:ext cx="120396" cy="164592"/>
          </a:xfrm>
          <a:prstGeom prst="rightArrow">
            <a:avLst/>
          </a:prstGeom>
          <a:solidFill>
            <a:srgbClr val="B9C6D2"/>
          </a:solidFill>
          <a:ln/>
        </p:spPr>
      </p:sp>
      <p:sp>
        <p:nvSpPr>
          <p:cNvPr id="28" name="Shape 26"/>
          <p:cNvSpPr/>
          <p:nvPr/>
        </p:nvSpPr>
        <p:spPr>
          <a:xfrm>
            <a:off x="3752088" y="3520440"/>
            <a:ext cx="1481328" cy="1280160"/>
          </a:xfrm>
          <a:prstGeom prst="roundRect">
            <a:avLst>
              <a:gd name="adj" fmla="val 6429"/>
            </a:avLst>
          </a:prstGeom>
          <a:solidFill>
            <a:srgbClr val="13294B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825240" y="3611880"/>
            <a:ext cx="133502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Rule-Based Detection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825240" y="4343400"/>
            <a:ext cx="13350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SQL-based detection rules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233416" y="4078224"/>
            <a:ext cx="120396" cy="164592"/>
          </a:xfrm>
          <a:prstGeom prst="rightArrow">
            <a:avLst/>
          </a:prstGeom>
          <a:solidFill>
            <a:srgbClr val="B9C6D2"/>
          </a:solidFill>
          <a:ln/>
        </p:spPr>
      </p:sp>
      <p:sp>
        <p:nvSpPr>
          <p:cNvPr id="32" name="Shape 30"/>
          <p:cNvSpPr/>
          <p:nvPr/>
        </p:nvSpPr>
        <p:spPr>
          <a:xfrm>
            <a:off x="5353812" y="3520440"/>
            <a:ext cx="1481328" cy="1280160"/>
          </a:xfrm>
          <a:prstGeom prst="roundRect">
            <a:avLst>
              <a:gd name="adj" fmla="val 6429"/>
            </a:avLst>
          </a:prstGeom>
          <a:solidFill>
            <a:srgbClr val="13294B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26964" y="3611880"/>
            <a:ext cx="133502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Summary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26964" y="4343400"/>
            <a:ext cx="13350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incidents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835140" y="4078224"/>
            <a:ext cx="120396" cy="164592"/>
          </a:xfrm>
          <a:prstGeom prst="rightArrow">
            <a:avLst/>
          </a:prstGeom>
          <a:solidFill>
            <a:srgbClr val="B9C6D2"/>
          </a:solidFill>
          <a:ln/>
        </p:spPr>
      </p:sp>
      <p:sp>
        <p:nvSpPr>
          <p:cNvPr id="36" name="Shape 34"/>
          <p:cNvSpPr/>
          <p:nvPr/>
        </p:nvSpPr>
        <p:spPr>
          <a:xfrm>
            <a:off x="6955536" y="3520440"/>
            <a:ext cx="1481328" cy="1280160"/>
          </a:xfrm>
          <a:prstGeom prst="roundRect">
            <a:avLst>
              <a:gd name="adj" fmla="val 6429"/>
            </a:avLst>
          </a:prstGeom>
          <a:solidFill>
            <a:srgbClr val="00C2D1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028688" y="3611880"/>
            <a:ext cx="133502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VirusTotal + AbuseIPDB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028688" y="4343400"/>
            <a:ext cx="13350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enrichment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436864" y="4078224"/>
            <a:ext cx="120396" cy="164592"/>
          </a:xfrm>
          <a:prstGeom prst="rightArrow">
            <a:avLst/>
          </a:prstGeom>
          <a:solidFill>
            <a:srgbClr val="B9C6D2"/>
          </a:solidFill>
          <a:ln/>
        </p:spPr>
      </p:sp>
      <p:sp>
        <p:nvSpPr>
          <p:cNvPr id="40" name="Shape 38"/>
          <p:cNvSpPr/>
          <p:nvPr/>
        </p:nvSpPr>
        <p:spPr>
          <a:xfrm>
            <a:off x="8557260" y="3520440"/>
            <a:ext cx="1481328" cy="1280160"/>
          </a:xfrm>
          <a:prstGeom prst="roundRect">
            <a:avLst>
              <a:gd name="adj" fmla="val 6429"/>
            </a:avLst>
          </a:prstGeom>
          <a:solidFill>
            <a:srgbClr val="13294B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630412" y="3611880"/>
            <a:ext cx="133502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Scoring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630412" y="4343400"/>
            <a:ext cx="13350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+ reputation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0038588" y="4078224"/>
            <a:ext cx="120396" cy="164592"/>
          </a:xfrm>
          <a:prstGeom prst="rightArrow">
            <a:avLst/>
          </a:prstGeom>
          <a:solidFill>
            <a:srgbClr val="B9C6D2"/>
          </a:solidFill>
          <a:ln/>
        </p:spPr>
      </p:sp>
      <p:sp>
        <p:nvSpPr>
          <p:cNvPr id="44" name="Shape 42"/>
          <p:cNvSpPr/>
          <p:nvPr/>
        </p:nvSpPr>
        <p:spPr>
          <a:xfrm>
            <a:off x="10158984" y="3520440"/>
            <a:ext cx="1481328" cy="1280160"/>
          </a:xfrm>
          <a:prstGeom prst="roundRect">
            <a:avLst>
              <a:gd name="adj" fmla="val 6429"/>
            </a:avLst>
          </a:prstGeom>
          <a:solidFill>
            <a:srgbClr val="13294B"/>
          </a:solidFill>
          <a:ln/>
          <a:effectLst>
            <a:outerShdw blurRad="635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0232136" y="3611880"/>
            <a:ext cx="133502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&amp; Reports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0232136" y="4343400"/>
            <a:ext cx="13350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&amp; prioritization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48640" y="4983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580083" cy="329184"/>
          </a:xfrm>
          <a:prstGeom prst="roundRect">
            <a:avLst>
              <a:gd name="adj" fmla="val 50000"/>
            </a:avLst>
          </a:prstGeom>
          <a:solidFill>
            <a:srgbClr val="00C2D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58008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· DATASET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Generation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Intelligence System  |  Group 13  |  DSA 4030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0A112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135,096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Records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14173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0A1128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6459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2,500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74720" y="22860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4173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0A1128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6459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309360" y="22860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Attackers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52560" y="14173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0A1128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0" y="16459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 – Mar 2026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0" y="22860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3017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135,096 records exceeds the assignment's 100,000-record minimum. Traffic mix includes normal activity plus six attack scenarios: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15361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00C2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3657600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Activity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21992" y="3657600"/>
            <a:ext cx="15361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00C2D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76856" y="3657600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95344" y="3657600"/>
            <a:ext cx="15361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00C2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50208" y="3657600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68696" y="3657600"/>
            <a:ext cx="15361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00C2D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23560" y="3657600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Traversal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42048" y="3657600"/>
            <a:ext cx="15361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00C2D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96912" y="3657600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Scan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915400" y="3657600"/>
            <a:ext cx="15361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00C2D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70264" y="3657600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Enumeration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588752" y="3657600"/>
            <a:ext cx="15361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00C2D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43616" y="3657600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Request Rate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4983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with seeded randomness (Python, Faker) for reproducibility; stored and queried in SQLite to support rule-based SQL detection logic.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430475" cy="329184"/>
          </a:xfrm>
          <a:prstGeom prst="roundRect">
            <a:avLst>
              <a:gd name="adj" fmla="val 50000"/>
            </a:avLst>
          </a:prstGeom>
          <a:solidFill>
            <a:srgbClr val="00C2D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243047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· SECURITY CONTROLS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Rule-Based Threat Detection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Intelligence System  |  Group 13  |  DSA 4030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rule-based detection engine continuously monitors logs to identify suspicious activity across six attack categories.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1672" cy="3428999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2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Attack Type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Detection Rule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A1128"/>
                          </a:solidFill>
                        </a:rPr>
                        <a:t>Brute Force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79"/>
                          </a:solidFill>
                        </a:rPr>
                        <a:t>≥ 5 failed login attempts from the same source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A1128"/>
                          </a:solidFill>
                        </a:rPr>
                        <a:t>SQL Injection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79"/>
                          </a:solidFill>
                        </a:rPr>
                        <a:t>Requests containing SQL payload keywords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A1128"/>
                          </a:solidFill>
                        </a:rPr>
                        <a:t>Directory Traversal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79"/>
                          </a:solidFill>
                        </a:rPr>
                        <a:t>Path patterns such as "../" or ".env"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A1128"/>
                          </a:solidFill>
                        </a:rPr>
                        <a:t>Port Scan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79"/>
                          </a:solidFill>
                        </a:rPr>
                        <a:t>Multiple sensitive endpoints probed rapidly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A1128"/>
                          </a:solidFill>
                        </a:rPr>
                        <a:t>404 Enumeration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79"/>
                          </a:solidFill>
                        </a:rPr>
                        <a:t>Excessive 404 (not found) responses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A1128"/>
                          </a:solidFill>
                        </a:rPr>
                        <a:t>High Request Rate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79"/>
                          </a:solidFill>
                        </a:rPr>
                        <a:t>Excessive request volume from one source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0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rules run as SQL queries directly against the SQLite log store — no external dependency needed for this stage.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430475" cy="329184"/>
          </a:xfrm>
          <a:prstGeom prst="roundRect">
            <a:avLst>
              <a:gd name="adj" fmla="val 50000"/>
            </a:avLst>
          </a:prstGeom>
          <a:solidFill>
            <a:srgbClr val="00C2D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243047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· SECURITY CONTROLS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Detection Results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Intelligence System  |  Group 13  |  DSA 4030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1463040"/>
          <a:ext cx="704088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7818120" y="1463040"/>
            <a:ext cx="3840480" cy="4343400"/>
          </a:xfrm>
          <a:prstGeom prst="roundRect">
            <a:avLst>
              <a:gd name="adj" fmla="val 2381"/>
            </a:avLst>
          </a:prstGeom>
          <a:solidFill>
            <a:srgbClr val="0A1128"/>
          </a:solidFill>
          <a:ln/>
        </p:spPr>
      </p:sp>
      <p:sp>
        <p:nvSpPr>
          <p:cNvPr id="9" name="Text 6"/>
          <p:cNvSpPr/>
          <p:nvPr/>
        </p:nvSpPr>
        <p:spPr>
          <a:xfrm>
            <a:off x="8092440" y="16916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178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8092440" y="2286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detected threat events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92440" y="2788920"/>
            <a:ext cx="3291840" cy="0"/>
          </a:xfrm>
          <a:prstGeom prst="line">
            <a:avLst/>
          </a:prstGeom>
          <a:noFill/>
          <a:ln w="12700">
            <a:solidFill>
              <a:srgbClr val="2341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9244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8092440" y="3474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incidents (distinct IPs)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92440" y="3977640"/>
            <a:ext cx="3291840" cy="0"/>
          </a:xfrm>
          <a:prstGeom prst="line">
            <a:avLst/>
          </a:prstGeom>
          <a:noFill/>
          <a:ln w="12700">
            <a:solidFill>
              <a:srgbClr val="2341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92440" y="4114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404 Enumeration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092440" y="4480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frequent threat type — 48 incidents, 931 events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92440" y="5074920"/>
            <a:ext cx="3291840" cy="0"/>
          </a:xfrm>
          <a:prstGeom prst="line">
            <a:avLst/>
          </a:prstGeom>
          <a:noFill/>
          <a:ln w="12700">
            <a:solidFill>
              <a:srgbClr val="23415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92440" y="52120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ranks second by incidents (38) and events (579).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430475" cy="329184"/>
          </a:xfrm>
          <a:prstGeom prst="roundRect">
            <a:avLst>
              <a:gd name="adj" fmla="val 50000"/>
            </a:avLst>
          </a:prstGeom>
          <a:solidFill>
            <a:srgbClr val="00C2D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243047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· SECURITY CONTROLS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Intelligence Enrichment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Intelligence System  |  Group 13  |  DSA 4030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blurRad="76200" dist="25400" dir="5400000" algn="bl" rotWithShape="0">
              <a:srgbClr val="9AA7B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847088"/>
            <a:ext cx="640080" cy="64008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470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16459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VirusTotal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00200" y="20574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malware / reputation analysis results per IP address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46304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blurRad="76200" dist="25400" dir="5400000" algn="bl" rotWithShape="0">
              <a:srgbClr val="9AA7B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0" y="1847088"/>
            <a:ext cx="640080" cy="640080"/>
          </a:xfrm>
          <a:prstGeom prst="ellipse">
            <a:avLst/>
          </a:prstGeom>
          <a:solidFill>
            <a:srgbClr val="0A1128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8470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0" y="16459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AbuseIPDB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315200" y="20574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 confidence score, country, ISP, and domain lookups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3108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flagged IP address, the system retrieved: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566160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E7F8FA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566160"/>
            <a:ext cx="19933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 Confidence Score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98064" y="3566160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E7F8FA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43784" y="3566160"/>
            <a:ext cx="19933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47488" y="3566160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E7F8FA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93208" y="3566160"/>
            <a:ext cx="19933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296912" y="3566160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E7F8FA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42632" y="3566160"/>
            <a:ext cx="19933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546336" y="3566160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E7F8FA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92056" y="3566160"/>
            <a:ext cx="19933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VirusTotal Analysis Results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75488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0A1128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47548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 135,096 log entries required enrichment </a:t>
            </a:r>
            <a:r>
              <a:rPr lang="en-US" sz="1250" i="1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only suspicious IPs are sent externally, keeping the system efficient and within free-tier API limits.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430475" cy="329184"/>
          </a:xfrm>
          <a:prstGeom prst="roundRect">
            <a:avLst>
              <a:gd name="adj" fmla="val 50000"/>
            </a:avLst>
          </a:prstGeom>
          <a:solidFill>
            <a:srgbClr val="00C2D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243047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· SECURITY CONTROLS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Scoring &amp; Prioritization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Intelligence System  |  Group 13  |  DSA 4030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7276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92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178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Events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46304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57276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92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74720" y="22402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Incidents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57276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92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30.40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309360" y="22402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Risk Score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52560" y="146304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0" y="157276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92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27.84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0" y="22402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Risk Score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28803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= (Severity weight × 40%) + (AbuseIPDB score × 40%) + (VirusTotal verdicts × 20%), banded into Low / Medium / High / Critical.</a:t>
            </a:r>
            <a:endParaRPr lang="en-US" sz="1250" dirty="0"/>
          </a:p>
        </p:txBody>
      </p:sp>
      <p:graphicFrame>
        <p:nvGraphicFramePr>
          <p:cNvPr id="20" name="Chart 0"/>
          <p:cNvGraphicFramePr/>
          <p:nvPr>
            <p:extLst>
              <p:ext uri="{D42A27DB-BD31-4B8C-83A1-F6EECF244321}">
                <p14:modId xmlns:p14="http://schemas.microsoft.com/office/powerpoint/2010/main" val="81153528"/>
              </p:ext>
            </p:extLst>
          </p:nvPr>
        </p:nvGraphicFramePr>
        <p:xfrm>
          <a:off x="548640" y="3474720"/>
          <a:ext cx="39319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Shape 18"/>
          <p:cNvSpPr/>
          <p:nvPr/>
        </p:nvSpPr>
        <p:spPr>
          <a:xfrm>
            <a:off x="4709160" y="3474720"/>
            <a:ext cx="6949440" cy="2743200"/>
          </a:xfrm>
          <a:prstGeom prst="roundRect">
            <a:avLst>
              <a:gd name="adj" fmla="val 3333"/>
            </a:avLst>
          </a:prstGeom>
          <a:solidFill>
            <a:srgbClr val="0A1128"/>
          </a:solidFill>
          <a:ln/>
        </p:spPr>
      </p:sp>
      <p:sp>
        <p:nvSpPr>
          <p:cNvPr id="22" name="Text 19"/>
          <p:cNvSpPr/>
          <p:nvPr/>
        </p:nvSpPr>
        <p:spPr>
          <a:xfrm>
            <a:off x="5029200" y="3639312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classification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029200" y="4023360"/>
            <a:ext cx="6309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74 enriched IPs currently score in the "Low" band — reflecting free-tier VirusTotal/AbuseIPDB lookups returning neutral scores for synthetic public IPs, not a flaw in detection logic (which correctly flagged 58 High- and 16 Medium-severity incidents).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029200" y="5349240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recommendation: recalibrate thresholds so the score reflects a realistic Low/Medium/High/Critical distribution.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345436" cy="329184"/>
          </a:xfrm>
          <a:prstGeom prst="roundRect">
            <a:avLst>
              <a:gd name="adj" fmla="val 50000"/>
            </a:avLst>
          </a:prstGeom>
          <a:solidFill>
            <a:srgbClr val="00C2D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23454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 · SECURITY TESTING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Testing Matrix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Intelligence System  |  Group 13  |  DSA 4030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tests were executed to verify every stage of the pipeline — all six passed.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3591014"/>
              </p:ext>
            </p:extLst>
          </p:nvPr>
        </p:nvGraphicFramePr>
        <p:xfrm>
          <a:off x="548640" y="1920240"/>
          <a:ext cx="11091672" cy="4114803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Procedure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Actual Result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92A3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A1128"/>
                          </a:solidFill>
                        </a:rPr>
                        <a:t>Dataset Generation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9"/>
                          </a:solidFill>
                        </a:rPr>
                        <a:t>Generate logs; validate schema, dtypes, nulls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8A5F"/>
                          </a:solidFill>
                        </a:rPr>
                        <a:t>135,096 records generated ✓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92A3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A1128"/>
                          </a:solidFill>
                        </a:rPr>
                        <a:t>SQLite Storage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9"/>
                          </a:solidFill>
                        </a:rPr>
                        <a:t>Write logs to server_logs; compare row counts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8A5F"/>
                          </a:solidFill>
                        </a:rPr>
                        <a:t>135,096 records confirmed stored ✓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92A3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A1128"/>
                          </a:solidFill>
                        </a:rPr>
                        <a:t>Threat Detection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9"/>
                          </a:solidFill>
                        </a:rPr>
                        <a:t>Run all 6 SQL detection rules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8A5F"/>
                          </a:solidFill>
                        </a:rPr>
                        <a:t>178 events / 74 incidents across 6 categories ✓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92A3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A1128"/>
                          </a:solidFill>
                        </a:rPr>
                        <a:t>TI Enrichment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9"/>
                          </a:solidFill>
                        </a:rPr>
                        <a:t>Query VirusTotal &amp; AbuseIPDB for every suspicious IP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8A5F"/>
                          </a:solidFill>
                        </a:rPr>
                        <a:t>74 of 74 IPs enriched successfully ✓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92A3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A1128"/>
                          </a:solidFill>
                        </a:rPr>
                        <a:t>Risk Scoring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9"/>
                          </a:solidFill>
                        </a:rPr>
                        <a:t>Apply weighted formula; assign risk level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8A5F"/>
                          </a:solidFill>
                        </a:rPr>
                        <a:t>Scores for all 74 IPs (highest 30.40, avg 27.84) ✓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92A3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A1128"/>
                          </a:solidFill>
                        </a:rPr>
                        <a:t>Dashboard &amp; Reports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9"/>
                          </a:solidFill>
                        </a:rPr>
                        <a:t>Generate visuals; export final report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8A5F"/>
                          </a:solidFill>
                        </a:rPr>
                        <a:t>3 visuals + CSV/SQLite report generated ✓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6172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665122" cy="329184"/>
          </a:xfrm>
          <a:prstGeom prst="roundRect">
            <a:avLst>
              <a:gd name="adj" fmla="val 50000"/>
            </a:avLst>
          </a:prstGeom>
          <a:solidFill>
            <a:srgbClr val="00C2D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66512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 · EVIDENCE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Dashboard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Intelligence System  |  Group 13  |  DSA 4030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1463040"/>
          <a:ext cx="416052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/>
        </p:nvGraphicFramePr>
        <p:xfrm>
          <a:off x="4846320" y="1463040"/>
          <a:ext cx="32004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11312" y="1463040"/>
          <a:ext cx="3429000" cy="233934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IP Address</a:t>
                      </a:r>
                      <a:endParaRPr lang="en-US" sz="10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Risk Score</a:t>
                      </a:r>
                      <a:endParaRPr lang="en-US" sz="10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Threat Types</a:t>
                      </a:r>
                      <a:endParaRPr lang="en-US" sz="10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B6B79"/>
                          </a:solidFill>
                        </a:rPr>
                        <a:t>105.161.111.216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92A3"/>
                          </a:solidFill>
                        </a:rPr>
                        <a:t>30.40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B6B79"/>
                          </a:solidFill>
                        </a:rPr>
                        <a:t>Brute Force, Dir. Traversal, SQL Injection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B6B79"/>
                          </a:solidFill>
                        </a:rPr>
                        <a:t>103.37.227.77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92A3"/>
                          </a:solidFill>
                        </a:rPr>
                        <a:t>30.00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B6B79"/>
                          </a:solidFill>
                        </a:rPr>
                        <a:t>404 Enum., Brute Force, Dir. Traversal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B6B79"/>
                          </a:solidFill>
                        </a:rPr>
                        <a:t>107.146.189.254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92A3"/>
                          </a:solidFill>
                        </a:rPr>
                        <a:t>30.00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B6B79"/>
                          </a:solidFill>
                        </a:rPr>
                        <a:t>404 Enumeration, SQL Injection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B6B79"/>
                          </a:solidFill>
                        </a:rPr>
                        <a:t>112.47.186.121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92A3"/>
                          </a:solidFill>
                        </a:rPr>
                        <a:t>30.00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B6B79"/>
                          </a:solidFill>
                        </a:rPr>
                        <a:t>Directory Traversal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B6B79"/>
                          </a:solidFill>
                        </a:rPr>
                        <a:t>118.229.146.73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92A3"/>
                          </a:solidFill>
                        </a:rPr>
                        <a:t>30.00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B6B79"/>
                          </a:solidFill>
                        </a:rPr>
                        <a:t>SQL Injection</a:t>
                      </a:r>
                      <a:endParaRPr lang="en-US" sz="95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8211312" y="11430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Highest-Risk IPs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548640" y="406908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0A112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3434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178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822960" y="49377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events detected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3566160" y="43434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3566160" y="49377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incidents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6309360" y="43434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6309360" y="49377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enrichment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9052560" y="43434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9052560" y="49377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prioritization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260397" cy="329184"/>
          </a:xfrm>
          <a:prstGeom prst="roundRect">
            <a:avLst>
              <a:gd name="adj" fmla="val 50000"/>
            </a:avLst>
          </a:prstGeom>
          <a:solidFill>
            <a:srgbClr val="00C2D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2260397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E · RECOMMENDATIONS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Vulnerabilities &amp; Remaining Risks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Intelligence System  |  Group 13  |  DSA 4030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Vulnerabilities Identified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DECEC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1874520"/>
            <a:ext cx="16276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E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attacks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187452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DECEC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78024" y="1874520"/>
            <a:ext cx="16276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E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187452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DECEC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52544" y="1874520"/>
            <a:ext cx="16276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E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Traversal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187452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DECEC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27064" y="1874520"/>
            <a:ext cx="16276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E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Scanning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46720" y="187452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DECEC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01584" y="1874520"/>
            <a:ext cx="16276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E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Enumeration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921240" y="187452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DECEC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76104" y="1874520"/>
            <a:ext cx="16276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E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Request Rate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Remaining Risks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365760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3963924"/>
            <a:ext cx="164592" cy="164592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36576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detection may miss unknown / novel attack patterns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365760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28232" y="3963924"/>
            <a:ext cx="164592" cy="164592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36576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enrichment depends on external, free-tier APIs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57200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" y="4878324"/>
            <a:ext cx="164592" cy="164592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" y="45720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cannot represent every real-world scenario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457200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28232" y="4878324"/>
            <a:ext cx="164592" cy="164592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32" name="Text 30"/>
          <p:cNvSpPr/>
          <p:nvPr/>
        </p:nvSpPr>
        <p:spPr>
          <a:xfrm>
            <a:off x="6720840" y="45720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implementation analyzes historical logs, not live traffic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5541085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0A1128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" y="55321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consultants, we consider these risks manageable and typical for a v1 system — each has a clear, scoped mitigation.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260397" cy="329184"/>
          </a:xfrm>
          <a:prstGeom prst="roundRect">
            <a:avLst>
              <a:gd name="adj" fmla="val 50000"/>
            </a:avLst>
          </a:prstGeom>
          <a:solidFill>
            <a:srgbClr val="00C2D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2260397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E · RECOMMENDATIONS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Improvements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Intelligence System  |  Group 13  |  DSA 4030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roadmap to move this system from v1 toward an enterprise-ready deployment.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blurRad="63500" dist="25400" dir="5400000" algn="bl" rotWithShape="0">
              <a:srgbClr val="9AA7B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286000"/>
            <a:ext cx="548640" cy="54864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29260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Streamlit dashboard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97680" y="205740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blurRad="63500" dist="25400" dir="5400000" algn="bl" rotWithShape="0">
              <a:srgbClr val="9AA7B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2286000"/>
            <a:ext cx="548640" cy="54864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26280" y="29260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anomaly detection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46720" y="205740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blurRad="63500" dist="25400" dir="5400000" algn="bl" rotWithShape="0">
              <a:srgbClr val="9AA7B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75320" y="2286000"/>
            <a:ext cx="548640" cy="54864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75320" y="29260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log monitoring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blurRad="63500" dist="25400" dir="5400000" algn="bl" rotWithShape="0">
              <a:srgbClr val="9AA7B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47548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threat intelligence sources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297680" y="388620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blurRad="63500" dist="25400" dir="5400000" algn="bl" rotWithShape="0">
              <a:srgbClr val="9AA7B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4114800"/>
            <a:ext cx="548640" cy="54864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26280" y="47548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deployment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046720" y="388620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blurRad="63500" dist="25400" dir="5400000" algn="bl" rotWithShape="0">
              <a:srgbClr val="9AA7B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75320" y="4114800"/>
            <a:ext cx="548640" cy="54864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30" name="Text 28"/>
          <p:cNvSpPr/>
          <p:nvPr/>
        </p:nvSpPr>
        <p:spPr>
          <a:xfrm>
            <a:off x="827532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75320" y="47548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security alerts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498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46504"/>
            <a:ext cx="292608" cy="292608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46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 135,096-record realistic web server log dataset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221992"/>
            <a:ext cx="292608" cy="292608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21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167128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six categories of cyber attacks via rule-based logic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292608" cy="292608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642616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real threat intelligence services (VirusTotal, AbuseIPDB)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3172968"/>
            <a:ext cx="292608" cy="292608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172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118104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composite, weighted risk scores per incident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3648456"/>
            <a:ext cx="292608" cy="292608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648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593592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all six security tests across the full pipeline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4123944"/>
            <a:ext cx="292608" cy="292608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123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4069080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dashboards and an investigation report for decision-making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48640" y="470916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13294B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709160"/>
            <a:ext cx="10515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consulting team, we deliver a modular system the client can extend with additional detection rules and intelligence sources without reworking the core pipeline — and a clear, prioritized roadmap for hardening it further.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Intelligence System  |  Group 13  |  DSA 4030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0" y="260604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0" y="352044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997196" y="4251960"/>
            <a:ext cx="2194560" cy="0"/>
          </a:xfrm>
          <a:prstGeom prst="line">
            <a:avLst/>
          </a:prstGeom>
          <a:noFill/>
          <a:ln w="25400">
            <a:solidFill>
              <a:srgbClr val="00C2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Intelligence System  |  Weldesenbet Zeray Aregay  |  USIU-Africa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1475</Words>
  <Application>Microsoft Office PowerPoint</Application>
  <PresentationFormat>Widescreen</PresentationFormat>
  <Paragraphs>288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Weldesenbet z Aregay</cp:lastModifiedBy>
  <cp:revision>15</cp:revision>
  <dcterms:created xsi:type="dcterms:W3CDTF">2026-07-28T03:48:00Z</dcterms:created>
  <dcterms:modified xsi:type="dcterms:W3CDTF">2026-07-30T06:33:07Z</dcterms:modified>
</cp:coreProperties>
</file>